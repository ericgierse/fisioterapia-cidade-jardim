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2" r:id="rId5"/>
    <p:sldMasterId id="2147483663" r:id="rId6"/>
    <p:sldMasterId id="2147483664" r:id="rId7"/>
    <p:sldMasterId id="2147483668" r:id="rId8"/>
  </p:sldMasterIdLst>
  <p:notesMasterIdLst>
    <p:notesMasterId r:id="rId21"/>
  </p:notesMasterIdLst>
  <p:sldIdLst>
    <p:sldId id="256" r:id="rId9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58" r:id="rId15"/>
    <p:sldId id="259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E2E2"/>
    <a:srgbClr val="696969"/>
    <a:srgbClr val="C3000A"/>
    <a:srgbClr val="E500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954415-51FE-BE49-A959-683B0AB06D15}" v="13" dt="2026-07-26T23:48:03.9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50" autoAdjust="0"/>
    <p:restoredTop sz="94660"/>
  </p:normalViewPr>
  <p:slideViewPr>
    <p:cSldViewPr snapToGrid="0">
      <p:cViewPr>
        <p:scale>
          <a:sx n="100" d="100"/>
          <a:sy n="100" d="100"/>
        </p:scale>
        <p:origin x="1112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134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5/10/relationships/revisionInfo" Target="revisionInfo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978349-95C5-4CF4-86FA-B2E9377A5A0D}" type="datetimeFigureOut">
              <a:rPr lang="pt-BR" smtClean="0"/>
              <a:t>26/07/2026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D820CC-F74B-4922-B5D1-6E2A5F9CCD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7087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4681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Arredondado 1"/>
          <p:cNvSpPr/>
          <p:nvPr userDrawn="1"/>
        </p:nvSpPr>
        <p:spPr>
          <a:xfrm>
            <a:off x="185195" y="616587"/>
            <a:ext cx="5370653" cy="549909"/>
          </a:xfrm>
          <a:prstGeom prst="roundRect">
            <a:avLst/>
          </a:prstGeom>
          <a:solidFill>
            <a:srgbClr val="F7E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9896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1221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3764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374567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Relationship Id="rId3" Type="http://schemas.openxmlformats.org/officeDocument/2006/relationships/image" Target="../media/image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Relationship Id="rId3" Type="http://schemas.openxmlformats.org/officeDocument/2006/relationships/image" Target="../media/image3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5.xml"/><Relationship Id="rId3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"/>
            <a:ext cx="12192000" cy="685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243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"/>
            <a:ext cx="12192000" cy="685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20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4D2575DA-6D67-524C-85B5-BE41D2625978}"/>
              </a:ext>
            </a:extLst>
          </p:cNvPr>
          <p:cNvSpPr/>
          <p:nvPr userDrawn="1"/>
        </p:nvSpPr>
        <p:spPr>
          <a:xfrm>
            <a:off x="813649" y="393155"/>
            <a:ext cx="4861937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4000" b="1" dirty="0">
                <a:solidFill>
                  <a:schemeClr val="bg1"/>
                </a:solidFill>
              </a:rPr>
              <a:t>Aqui, o título </a:t>
            </a:r>
            <a:endParaRPr lang="pt-BR" sz="4000" dirty="0">
              <a:solidFill>
                <a:schemeClr val="bg1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"/>
            <a:ext cx="12192000" cy="685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519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"/>
            <a:ext cx="12192000" cy="6856629"/>
          </a:xfrm>
          <a:prstGeom prst="rect">
            <a:avLst/>
          </a:prstGeom>
        </p:spPr>
      </p:pic>
      <p:pic>
        <p:nvPicPr>
          <p:cNvPr id="13" name="Imagem 17" descr="Texto&#10;&#10;Descrição gerada automaticamente">
            <a:extLst>
              <a:ext uri="{FF2B5EF4-FFF2-40B4-BE49-F238E27FC236}">
                <a16:creationId xmlns:a16="http://schemas.microsoft.com/office/drawing/2014/main" id="{0C78BC0C-23CB-425B-BD08-D846692BFC1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165227" y="1854925"/>
            <a:ext cx="3463112" cy="1474063"/>
          </a:xfrm>
          <a:prstGeom prst="rect">
            <a:avLst/>
          </a:prstGeom>
        </p:spPr>
      </p:pic>
      <p:grpSp>
        <p:nvGrpSpPr>
          <p:cNvPr id="21" name="Agrupar 20"/>
          <p:cNvGrpSpPr/>
          <p:nvPr userDrawn="1"/>
        </p:nvGrpSpPr>
        <p:grpSpPr>
          <a:xfrm>
            <a:off x="963599" y="3896817"/>
            <a:ext cx="10264803" cy="2392667"/>
            <a:chOff x="583474" y="4136570"/>
            <a:chExt cx="10264803" cy="2392667"/>
          </a:xfrm>
        </p:grpSpPr>
        <p:grpSp>
          <p:nvGrpSpPr>
            <p:cNvPr id="5" name="Agrupar 4"/>
            <p:cNvGrpSpPr/>
            <p:nvPr userDrawn="1"/>
          </p:nvGrpSpPr>
          <p:grpSpPr>
            <a:xfrm>
              <a:off x="583474" y="4136570"/>
              <a:ext cx="10264803" cy="2392667"/>
              <a:chOff x="-3291499" y="3703738"/>
              <a:chExt cx="13017657" cy="2809874"/>
            </a:xfrm>
          </p:grpSpPr>
          <p:sp>
            <p:nvSpPr>
              <p:cNvPr id="19" name="Retângulo: Cantos Arredondados 2">
                <a:extLst>
                  <a:ext uri="{FF2B5EF4-FFF2-40B4-BE49-F238E27FC236}">
                    <a16:creationId xmlns:a16="http://schemas.microsoft.com/office/drawing/2014/main" id="{C19FB2AD-EA8B-74DE-84F0-9A0DC246A7BE}"/>
                  </a:ext>
                </a:extLst>
              </p:cNvPr>
              <p:cNvSpPr/>
              <p:nvPr userDrawn="1"/>
            </p:nvSpPr>
            <p:spPr>
              <a:xfrm>
                <a:off x="-3291499" y="3703738"/>
                <a:ext cx="13017657" cy="2809874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pic>
            <p:nvPicPr>
              <p:cNvPr id="20" name="Imagem 19"/>
              <p:cNvPicPr>
                <a:picLocks noChangeAspect="1"/>
              </p:cNvPicPr>
              <p:nvPr userDrawn="1"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41558" y="4073506"/>
                <a:ext cx="6730678" cy="2195896"/>
              </a:xfrm>
              <a:prstGeom prst="rect">
                <a:avLst/>
              </a:prstGeom>
            </p:spPr>
          </p:pic>
        </p:grpSp>
        <p:grpSp>
          <p:nvGrpSpPr>
            <p:cNvPr id="6" name="Agrupar 5"/>
            <p:cNvGrpSpPr/>
            <p:nvPr userDrawn="1"/>
          </p:nvGrpSpPr>
          <p:grpSpPr>
            <a:xfrm>
              <a:off x="1340755" y="4789562"/>
              <a:ext cx="3020001" cy="1277120"/>
              <a:chOff x="1340755" y="4789562"/>
              <a:chExt cx="3020001" cy="1277120"/>
            </a:xfrm>
          </p:grpSpPr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511E8ECF-6233-48B7-B7E6-52F6046A8EAB}"/>
                  </a:ext>
                </a:extLst>
              </p:cNvPr>
              <p:cNvSpPr/>
              <p:nvPr userDrawn="1"/>
            </p:nvSpPr>
            <p:spPr>
              <a:xfrm>
                <a:off x="1858137" y="5252606"/>
                <a:ext cx="1985238" cy="338554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16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Calibri"/>
                  </a:rPr>
                  <a:t>HospitalSaoCamiloSp</a:t>
                </a:r>
              </a:p>
            </p:txBody>
          </p:sp>
          <p:pic>
            <p:nvPicPr>
              <p:cNvPr id="10" name="Imagem 13" descr="Logotipo, Ícone&#10;&#10;Descrição gerada automaticamente">
                <a:extLst>
                  <a:ext uri="{FF2B5EF4-FFF2-40B4-BE49-F238E27FC236}">
                    <a16:creationId xmlns:a16="http://schemas.microsoft.com/office/drawing/2014/main" id="{BEFE0BBB-ABD7-4EBA-B5F5-EEDE760DB59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6"/>
              <a:stretch>
                <a:fillRect/>
              </a:stretch>
            </p:blipFill>
            <p:spPr>
              <a:xfrm>
                <a:off x="2204457" y="4789563"/>
                <a:ext cx="430867" cy="430867"/>
              </a:xfrm>
              <a:prstGeom prst="rect">
                <a:avLst/>
              </a:prstGeom>
            </p:spPr>
          </p:pic>
          <p:pic>
            <p:nvPicPr>
              <p:cNvPr id="11" name="Imagem 14" descr="Uma imagem contendo objeto, desenho&#10;&#10;Descrição gerada automaticamente">
                <a:extLst>
                  <a:ext uri="{FF2B5EF4-FFF2-40B4-BE49-F238E27FC236}">
                    <a16:creationId xmlns:a16="http://schemas.microsoft.com/office/drawing/2014/main" id="{4F4EA647-9E48-41E7-9E65-A5A7BF2BFE7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7"/>
              <a:stretch>
                <a:fillRect/>
              </a:stretch>
            </p:blipFill>
            <p:spPr>
              <a:xfrm>
                <a:off x="2635323" y="4789563"/>
                <a:ext cx="430867" cy="430867"/>
              </a:xfrm>
              <a:prstGeom prst="rect">
                <a:avLst/>
              </a:prstGeom>
            </p:spPr>
          </p:pic>
          <p:pic>
            <p:nvPicPr>
              <p:cNvPr id="12" name="Imagem 15" descr="Logotipo, Ícone&#10;&#10;Descrição gerada automaticamente">
                <a:extLst>
                  <a:ext uri="{FF2B5EF4-FFF2-40B4-BE49-F238E27FC236}">
                    <a16:creationId xmlns:a16="http://schemas.microsoft.com/office/drawing/2014/main" id="{46F26F37-00FE-4B6F-9032-B71221C861F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8"/>
              <a:stretch>
                <a:fillRect/>
              </a:stretch>
            </p:blipFill>
            <p:spPr>
              <a:xfrm>
                <a:off x="3066189" y="4789563"/>
                <a:ext cx="430867" cy="430867"/>
              </a:xfrm>
              <a:prstGeom prst="rect">
                <a:avLst/>
              </a:prstGeom>
            </p:spPr>
          </p:pic>
          <p:pic>
            <p:nvPicPr>
              <p:cNvPr id="14" name="Imagem 18" descr="Logotipo, Ícone&#10;&#10;Descrição gerada automaticamente">
                <a:extLst>
                  <a:ext uri="{FF2B5EF4-FFF2-40B4-BE49-F238E27FC236}">
                    <a16:creationId xmlns:a16="http://schemas.microsoft.com/office/drawing/2014/main" id="{C0A07315-B10C-419E-BD5D-DCB13CBE5E8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9"/>
              <a:stretch>
                <a:fillRect/>
              </a:stretch>
            </p:blipFill>
            <p:spPr>
              <a:xfrm>
                <a:off x="1773031" y="4789563"/>
                <a:ext cx="430867" cy="430867"/>
              </a:xfrm>
              <a:prstGeom prst="rect">
                <a:avLst/>
              </a:prstGeom>
            </p:spPr>
          </p:pic>
          <p:pic>
            <p:nvPicPr>
              <p:cNvPr id="15" name="Imagem 19" descr="Logotipo&#10;&#10;Descrição gerada automaticamente">
                <a:extLst>
                  <a:ext uri="{FF2B5EF4-FFF2-40B4-BE49-F238E27FC236}">
                    <a16:creationId xmlns:a16="http://schemas.microsoft.com/office/drawing/2014/main" id="{2C1B6950-A840-45C7-ADC3-9E1F01B0E38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0"/>
              <a:stretch>
                <a:fillRect/>
              </a:stretch>
            </p:blipFill>
            <p:spPr>
              <a:xfrm>
                <a:off x="3497056" y="4789562"/>
                <a:ext cx="430867" cy="430867"/>
              </a:xfrm>
              <a:prstGeom prst="rect">
                <a:avLst/>
              </a:prstGeom>
            </p:spPr>
          </p:pic>
          <p:sp>
            <p:nvSpPr>
              <p:cNvPr id="18" name="Retângulo 17">
                <a:extLst>
                  <a:ext uri="{FF2B5EF4-FFF2-40B4-BE49-F238E27FC236}">
                    <a16:creationId xmlns:a16="http://schemas.microsoft.com/office/drawing/2014/main" id="{511E8ECF-6233-48B7-B7E6-52F6046A8EAB}"/>
                  </a:ext>
                </a:extLst>
              </p:cNvPr>
              <p:cNvSpPr/>
              <p:nvPr userDrawn="1"/>
            </p:nvSpPr>
            <p:spPr>
              <a:xfrm>
                <a:off x="1340755" y="5728128"/>
                <a:ext cx="3020001" cy="338554"/>
              </a:xfrm>
              <a:prstGeom prst="rect">
                <a:avLst/>
              </a:prstGeom>
            </p:spPr>
            <p:txBody>
              <a:bodyPr wrap="square" lIns="91440" tIns="45720" rIns="91440" bIns="45720" anchor="t">
                <a:sp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16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Calibri"/>
                  </a:rPr>
                  <a:t>www.hospitalsaocamilosp.org.br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84996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945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Relationship Id="rId3" Type="http://schemas.microsoft.com/office/2007/relationships/hdphoto" Target="../media/hdphoto1.wdp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Arredondado 7"/>
          <p:cNvSpPr/>
          <p:nvPr/>
        </p:nvSpPr>
        <p:spPr>
          <a:xfrm>
            <a:off x="5972630" y="3962401"/>
            <a:ext cx="5554006" cy="68870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/>
          <p:cNvSpPr/>
          <p:nvPr/>
        </p:nvSpPr>
        <p:spPr>
          <a:xfrm>
            <a:off x="5972629" y="4775376"/>
            <a:ext cx="4331635" cy="523220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sz="1900" b="0" i="1">
                <a:solidFill>
                  <a:srgbClr val="696969"/>
                </a:solidFill>
                <a:latin typeface="Trebuchet MS"/>
              </a:rPr>
              <a:t>Nossa equipe no Hospital São Camilo Pompéia</a:t>
            </a:r>
            <a:endParaRPr lang="pt-BR" i="1" dirty="0">
              <a:solidFill>
                <a:srgbClr val="696969"/>
              </a:solidFill>
              <a:latin typeface="Trebuchet MS" panose="020B0603020202020204" pitchFamily="34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66E9793-A20E-47E6-AF3D-11F8D5F5DF53}"/>
              </a:ext>
            </a:extLst>
          </p:cNvPr>
          <p:cNvSpPr/>
          <p:nvPr/>
        </p:nvSpPr>
        <p:spPr>
          <a:xfrm>
            <a:off x="5972629" y="4052465"/>
            <a:ext cx="6130472" cy="5232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sz="2800" b="1" i="1">
                <a:solidFill>
                  <a:srgbClr val="C3000A"/>
                </a:solidFill>
                <a:latin typeface="Trebuchet MS"/>
              </a:rPr>
              <a:t>Fisioterapia Cidade Jardim</a:t>
            </a:r>
            <a:endParaRPr lang="pt-BR" sz="4000" i="1" dirty="0">
              <a:solidFill>
                <a:srgbClr val="C3000A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CC2581B-4074-45AA-B649-F7EF5A3B09EA}"/>
              </a:ext>
            </a:extLst>
          </p:cNvPr>
          <p:cNvSpPr/>
          <p:nvPr/>
        </p:nvSpPr>
        <p:spPr>
          <a:xfrm>
            <a:off x="10710139" y="6469307"/>
            <a:ext cx="841897" cy="261610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pt-BR" sz="1100" b="1" i="1" dirty="0">
                <a:solidFill>
                  <a:srgbClr val="C00000"/>
                </a:solidFill>
                <a:latin typeface="Trebuchet MS" panose="020B0603020202020204" pitchFamily="34" charset="0"/>
              </a:rPr>
              <a:t>Ago|2026</a:t>
            </a:r>
            <a:endParaRPr lang="pt-BR" b="1" dirty="0">
              <a:solidFill>
                <a:srgbClr val="C00000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0286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9543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6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712181" y="631884"/>
            <a:ext cx="5712447" cy="5797798"/>
          </a:xfrm>
          <a:prstGeom prst="rect">
            <a:avLst/>
          </a:prstGeom>
        </p:spPr>
      </p:pic>
      <p:sp>
        <p:nvSpPr>
          <p:cNvPr id="2" name="Retângulo Arredondado 1"/>
          <p:cNvSpPr/>
          <p:nvPr/>
        </p:nvSpPr>
        <p:spPr>
          <a:xfrm>
            <a:off x="2234499" y="4114425"/>
            <a:ext cx="4130566" cy="4001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8AFD722-2645-4E65-8F37-A2267ACD96FD}"/>
              </a:ext>
            </a:extLst>
          </p:cNvPr>
          <p:cNvSpPr txBox="1"/>
          <p:nvPr/>
        </p:nvSpPr>
        <p:spPr>
          <a:xfrm>
            <a:off x="2331357" y="4102850"/>
            <a:ext cx="450713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sz="1400" b="1" i="1">
                <a:solidFill>
                  <a:srgbClr val="696969"/>
                </a:solidFill>
                <a:latin typeface="Trebuchet MS"/>
              </a:rPr>
              <a:t>@fisioterapiacidadejardim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66E9793-A20E-47E6-AF3D-11F8D5F5DF53}"/>
              </a:ext>
            </a:extLst>
          </p:cNvPr>
          <p:cNvSpPr/>
          <p:nvPr/>
        </p:nvSpPr>
        <p:spPr>
          <a:xfrm>
            <a:off x="3455218" y="3005211"/>
            <a:ext cx="2359941" cy="707886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pt-BR" sz="4000" b="1" i="1" dirty="0">
                <a:solidFill>
                  <a:srgbClr val="C3000A"/>
                </a:solidFill>
                <a:latin typeface="Trebuchet MS" panose="020B0603020202020204" pitchFamily="34" charset="0"/>
              </a:rPr>
              <a:t>Contatos</a:t>
            </a:r>
            <a:endParaRPr lang="pt-BR" sz="4000" i="1" dirty="0">
              <a:solidFill>
                <a:srgbClr val="C3000A"/>
              </a:solidFill>
              <a:latin typeface="Trebuchet MS" panose="020B0603020202020204" pitchFamily="34" charset="0"/>
            </a:endParaRPr>
          </a:p>
        </p:txBody>
      </p:sp>
      <p:sp>
        <p:nvSpPr>
          <p:cNvPr id="11" name="Retângulo Arredondado 10"/>
          <p:cNvSpPr/>
          <p:nvPr/>
        </p:nvSpPr>
        <p:spPr>
          <a:xfrm>
            <a:off x="2234499" y="4810446"/>
            <a:ext cx="2047941" cy="4001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8AFD722-2645-4E65-8F37-A2267ACD96FD}"/>
              </a:ext>
            </a:extLst>
          </p:cNvPr>
          <p:cNvSpPr txBox="1"/>
          <p:nvPr/>
        </p:nvSpPr>
        <p:spPr>
          <a:xfrm>
            <a:off x="2331357" y="4851989"/>
            <a:ext cx="1813923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sz="1400" b="1" i="1">
                <a:solidFill>
                  <a:srgbClr val="696969"/>
                </a:solidFill>
                <a:latin typeface="Trebuchet MS"/>
              </a:rPr>
              <a:t>(11) 98805-8005</a:t>
            </a:r>
            <a:endParaRPr lang="pt-BR" sz="1400" dirty="0">
              <a:solidFill>
                <a:srgbClr val="696969"/>
              </a:solidFill>
              <a:latin typeface="Trebuchet MS" panose="020B0603020202020204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0754" y="1874564"/>
            <a:ext cx="4495300" cy="3312437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4845" y="2215348"/>
            <a:ext cx="1677479" cy="1497749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06652">
            <a:off x="4277406" y="4662837"/>
            <a:ext cx="867676" cy="774710"/>
          </a:xfrm>
          <a:prstGeom prst="rect">
            <a:avLst/>
          </a:prstGeom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926" y="3875033"/>
            <a:ext cx="958431" cy="85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488279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73736" y="612648"/>
            <a:ext cx="5367528" cy="548640"/>
          </a:xfrm>
          <a:prstGeom prst="roundRect">
            <a:avLst/>
          </a:prstGeom>
          <a:solidFill>
            <a:srgbClr val="F7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512064"/>
            <a:ext cx="10607040" cy="7315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r>
              <a:rPr sz="4000" b="1" i="0">
                <a:solidFill>
                  <a:srgbClr val="C00000"/>
                </a:solidFill>
                <a:latin typeface="Trebuchet MS"/>
              </a:rPr>
              <a:t>Quem Somos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129844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1">
                <a:solidFill>
                  <a:srgbClr val="696969"/>
                </a:solidFill>
                <a:latin typeface="Trebuchet MS"/>
              </a:rPr>
              <a:t>A clínica que passa a integrar a assistência fisioterapêutica do São Camilo Pompéia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965960"/>
            <a:ext cx="63093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2400"/>
              </a:spcAft>
            </a:pPr>
            <a:r>
              <a:rPr sz="1600" b="1" i="0">
                <a:solidFill>
                  <a:srgbClr val="C00000"/>
                </a:solidFill>
                <a:latin typeface="Trebuchet MS"/>
              </a:rPr>
              <a:t>Cuidado individualizado. </a:t>
            </a:r>
            <a:r>
              <a:rPr sz="1600" b="0" i="0">
                <a:solidFill>
                  <a:srgbClr val="696969"/>
                </a:solidFill>
                <a:latin typeface="Trebuchet MS"/>
              </a:rPr>
              <a:t>Cada tratamento começa por uma avaliação completa e resulta em um plano próprio para o paciente.</a:t>
            </a:r>
          </a:p>
          <a:p>
            <a:pPr>
              <a:lnSpc>
                <a:spcPct val="125000"/>
              </a:lnSpc>
              <a:spcAft>
                <a:spcPts val="2400"/>
              </a:spcAft>
            </a:pPr>
            <a:r>
              <a:rPr sz="1600" b="1" i="0">
                <a:solidFill>
                  <a:srgbClr val="C00000"/>
                </a:solidFill>
                <a:latin typeface="Trebuchet MS"/>
              </a:rPr>
              <a:t>Equipe multiespecialista. </a:t>
            </a:r>
            <a:r>
              <a:rPr sz="1600" b="0" i="0">
                <a:solidFill>
                  <a:srgbClr val="696969"/>
                </a:solidFill>
                <a:latin typeface="Trebuchet MS"/>
              </a:rPr>
              <a:t>Seis fisioterapeutas com formações complementares, cobrindo do esporte à gerontologia.</a:t>
            </a:r>
          </a:p>
          <a:p>
            <a:pPr>
              <a:lnSpc>
                <a:spcPct val="125000"/>
              </a:lnSpc>
              <a:spcAft>
                <a:spcPts val="2400"/>
              </a:spcAft>
            </a:pPr>
            <a:r>
              <a:rPr sz="1600" b="1" i="0">
                <a:solidFill>
                  <a:srgbClr val="C00000"/>
                </a:solidFill>
                <a:latin typeface="Trebuchet MS"/>
              </a:rPr>
              <a:t>Prática baseada em evidências. </a:t>
            </a:r>
            <a:r>
              <a:rPr sz="1600" b="0" i="0">
                <a:solidFill>
                  <a:srgbClr val="696969"/>
                </a:solidFill>
                <a:latin typeface="Trebuchet MS"/>
              </a:rPr>
              <a:t>Condutas atualizadas, com foco em recuperação funcional e segurança assistencial.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874519"/>
            <a:ext cx="3840480" cy="342900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1">
                <a:solidFill>
                  <a:srgbClr val="9E9E9E"/>
                </a:solidFill>
                <a:latin typeface="Trebuchet MS"/>
              </a:rPr>
              <a:t>Foto da clínica ou da equipe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73736" y="612648"/>
            <a:ext cx="6853427" cy="548640"/>
          </a:xfrm>
          <a:prstGeom prst="roundRect">
            <a:avLst/>
          </a:prstGeom>
          <a:solidFill>
            <a:srgbClr val="F7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512064"/>
            <a:ext cx="10607040" cy="7315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r>
              <a:rPr sz="4000" b="1" i="0">
                <a:solidFill>
                  <a:srgbClr val="C00000"/>
                </a:solidFill>
                <a:latin typeface="Trebuchet MS"/>
              </a:rPr>
              <a:t>Desafio e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1783080"/>
            <a:ext cx="104241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600" b="0" i="0">
                <a:solidFill>
                  <a:srgbClr val="696969"/>
                </a:solidFill>
                <a:latin typeface="Trebuchet MS"/>
              </a:rPr>
              <a:t>Assumir a atuação em um hospital de grande porte exige </a:t>
            </a:r>
            <a:r>
              <a:rPr sz="1600" b="1" i="0">
                <a:solidFill>
                  <a:srgbClr val="C00000"/>
                </a:solidFill>
                <a:latin typeface="Trebuchet MS"/>
              </a:rPr>
              <a:t>integração rápida</a:t>
            </a:r>
            <a:r>
              <a:rPr sz="1600" b="0" i="0">
                <a:solidFill>
                  <a:srgbClr val="696969"/>
                </a:solidFill>
                <a:latin typeface="Trebuchet MS"/>
              </a:rPr>
              <a:t> aos processos assistenciais, </a:t>
            </a:r>
            <a:r>
              <a:rPr sz="1600" b="1" i="0">
                <a:solidFill>
                  <a:srgbClr val="C00000"/>
                </a:solidFill>
                <a:latin typeface="Trebuchet MS"/>
              </a:rPr>
              <a:t>alinhamento</a:t>
            </a:r>
            <a:r>
              <a:rPr sz="1600" b="0" i="0">
                <a:solidFill>
                  <a:srgbClr val="696969"/>
                </a:solidFill>
                <a:latin typeface="Trebuchet MS"/>
              </a:rPr>
              <a:t> com as equipes multiprofissionais e </a:t>
            </a:r>
            <a:r>
              <a:rPr sz="1600" b="1" i="0">
                <a:solidFill>
                  <a:srgbClr val="C00000"/>
                </a:solidFill>
                <a:latin typeface="Trebuchet MS"/>
              </a:rPr>
              <a:t>compromisso</a:t>
            </a:r>
            <a:r>
              <a:rPr sz="1600" b="0" i="0">
                <a:solidFill>
                  <a:srgbClr val="696969"/>
                </a:solidFill>
                <a:latin typeface="Trebuchet MS"/>
              </a:rPr>
              <a:t> com a qualidade e a segurança do paciente.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600" b="0" i="0">
                <a:solidFill>
                  <a:srgbClr val="696969"/>
                </a:solidFill>
                <a:latin typeface="Trebuchet MS"/>
              </a:rPr>
              <a:t>Ao mesmo tempo, representa uma excelente </a:t>
            </a:r>
            <a:r>
              <a:rPr sz="1600" b="1" i="0">
                <a:solidFill>
                  <a:srgbClr val="C00000"/>
                </a:solidFill>
                <a:latin typeface="Trebuchet MS"/>
              </a:rPr>
              <a:t>oportunidade</a:t>
            </a:r>
            <a:r>
              <a:rPr sz="1600" b="0" i="0">
                <a:solidFill>
                  <a:srgbClr val="696969"/>
                </a:solidFill>
                <a:latin typeface="Trebuchet MS"/>
              </a:rPr>
              <a:t> para fortalecer uma assistência fisioterapêutica especializada, baseada em evidências e focada na recuperação funcional e na melhor </a:t>
            </a:r>
            <a:r>
              <a:rPr sz="1600" b="1" i="0">
                <a:solidFill>
                  <a:srgbClr val="C00000"/>
                </a:solidFill>
                <a:latin typeface="Trebuchet MS"/>
              </a:rPr>
              <a:t>experiência do paciente</a:t>
            </a:r>
            <a:r>
              <a:rPr sz="1600" b="0" i="0">
                <a:solidFill>
                  <a:srgbClr val="696969"/>
                </a:solidFill>
                <a:latin typeface="Trebuchet MS"/>
              </a:rPr>
              <a:t>.</a:t>
            </a:r>
          </a:p>
          <a:p>
            <a:pPr>
              <a:lnSpc>
                <a:spcPct val="125000"/>
              </a:lnSpc>
              <a:spcAft>
                <a:spcPts val="1800"/>
              </a:spcAft>
            </a:pPr>
            <a:r>
              <a:rPr sz="1600" b="0" i="0">
                <a:solidFill>
                  <a:srgbClr val="696969"/>
                </a:solidFill>
                <a:latin typeface="Trebuchet MS"/>
              </a:rPr>
              <a:t>Mais do que formar uma nova equipe, iniciamos uma jornada de colaboração, inovação e </a:t>
            </a:r>
            <a:r>
              <a:rPr sz="1600" b="1" i="0">
                <a:solidFill>
                  <a:srgbClr val="C00000"/>
                </a:solidFill>
                <a:latin typeface="Trebuchet MS"/>
              </a:rPr>
              <a:t>melhoria contínua</a:t>
            </a:r>
            <a:r>
              <a:rPr sz="1600" b="0" i="0">
                <a:solidFill>
                  <a:srgbClr val="696969"/>
                </a:solidFill>
                <a:latin typeface="Trebuchet MS"/>
              </a:rPr>
              <a:t>, contribuindo para a </a:t>
            </a:r>
            <a:r>
              <a:rPr sz="1600" b="1" i="0">
                <a:solidFill>
                  <a:srgbClr val="C00000"/>
                </a:solidFill>
                <a:latin typeface="Trebuchet MS"/>
              </a:rPr>
              <a:t>excelência assistencial do Hospital São Camilo</a:t>
            </a:r>
            <a:r>
              <a:rPr sz="1600" b="0" i="0">
                <a:solidFill>
                  <a:srgbClr val="696969"/>
                </a:solidFill>
                <a:latin typeface="Trebuchet MS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73736" y="612648"/>
            <a:ext cx="5367528" cy="548640"/>
          </a:xfrm>
          <a:prstGeom prst="roundRect">
            <a:avLst/>
          </a:prstGeom>
          <a:solidFill>
            <a:srgbClr val="F7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512064"/>
            <a:ext cx="10607040" cy="7315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r>
              <a:rPr sz="4000" b="1" i="0">
                <a:solidFill>
                  <a:srgbClr val="C00000"/>
                </a:solidFill>
                <a:latin typeface="Trebuchet MS"/>
              </a:rPr>
              <a:t>Nossos Serviços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129844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1">
                <a:solidFill>
                  <a:srgbClr val="696969"/>
                </a:solidFill>
                <a:latin typeface="Trebuchet MS"/>
              </a:rPr>
              <a:t>Uma equipe preparada para oferecer cuidado integral, humanizado e baseado em evidências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874519"/>
            <a:ext cx="50292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84048" indent="-384048">
              <a:spcAft>
                <a:spcPts val="500"/>
              </a:spcAft>
            </a:pPr>
            <a:r>
              <a:rPr sz="1200" b="1" i="0">
                <a:solidFill>
                  <a:srgbClr val="C00000"/>
                </a:solidFill>
                <a:latin typeface="Trebuchet MS"/>
              </a:rPr>
              <a:t>1.  </a:t>
            </a:r>
            <a:r>
              <a:rPr sz="1300" b="1" i="0">
                <a:solidFill>
                  <a:srgbClr val="C00000"/>
                </a:solidFill>
                <a:latin typeface="Trebuchet MS"/>
              </a:rPr>
              <a:t>Fisioterapia Ortopédica e Esportiva</a:t>
            </a:r>
          </a:p>
          <a:p>
            <a:pPr marL="384048" indent="0">
              <a:spcAft>
                <a:spcPts val="1400"/>
              </a:spcAft>
            </a:pPr>
            <a:r>
              <a:rPr sz="1100" b="0" i="0">
                <a:solidFill>
                  <a:srgbClr val="696969"/>
                </a:solidFill>
                <a:latin typeface="Trebuchet MS"/>
              </a:rPr>
              <a:t>Reabilitação musculoesquelética, pós-operatórios e retorno seguro ao esporte.</a:t>
            </a:r>
          </a:p>
          <a:p>
            <a:pPr marL="384048" indent="-384048">
              <a:spcAft>
                <a:spcPts val="500"/>
              </a:spcAft>
            </a:pPr>
            <a:r>
              <a:rPr sz="1200" b="1" i="0">
                <a:solidFill>
                  <a:srgbClr val="C00000"/>
                </a:solidFill>
                <a:latin typeface="Trebuchet MS"/>
              </a:rPr>
              <a:t>2.  </a:t>
            </a:r>
            <a:r>
              <a:rPr sz="1300" b="1" i="0">
                <a:solidFill>
                  <a:srgbClr val="C00000"/>
                </a:solidFill>
                <a:latin typeface="Trebuchet MS"/>
              </a:rPr>
              <a:t>Fisioterapia Pélvica</a:t>
            </a:r>
          </a:p>
          <a:p>
            <a:pPr marL="384048" indent="0">
              <a:spcAft>
                <a:spcPts val="1400"/>
              </a:spcAft>
            </a:pPr>
            <a:r>
              <a:rPr sz="1100" b="0" i="0">
                <a:solidFill>
                  <a:srgbClr val="696969"/>
                </a:solidFill>
                <a:latin typeface="Trebuchet MS"/>
              </a:rPr>
              <a:t>Disfunções do assoalho pélvico, saúde da mulher e do homem.</a:t>
            </a:r>
          </a:p>
          <a:p>
            <a:pPr marL="384048" indent="-384048">
              <a:spcAft>
                <a:spcPts val="500"/>
              </a:spcAft>
            </a:pPr>
            <a:r>
              <a:rPr sz="1200" b="1" i="0">
                <a:solidFill>
                  <a:srgbClr val="C00000"/>
                </a:solidFill>
                <a:latin typeface="Trebuchet MS"/>
              </a:rPr>
              <a:t>3.  </a:t>
            </a:r>
            <a:r>
              <a:rPr sz="1300" b="1" i="0">
                <a:solidFill>
                  <a:srgbClr val="C00000"/>
                </a:solidFill>
                <a:latin typeface="Trebuchet MS"/>
              </a:rPr>
              <a:t>RPG — Reeducação Postural Global</a:t>
            </a:r>
          </a:p>
          <a:p>
            <a:pPr marL="384048" indent="0">
              <a:spcAft>
                <a:spcPts val="1400"/>
              </a:spcAft>
            </a:pPr>
            <a:r>
              <a:rPr sz="1100" b="0" i="0">
                <a:solidFill>
                  <a:srgbClr val="696969"/>
                </a:solidFill>
                <a:latin typeface="Trebuchet MS"/>
              </a:rPr>
              <a:t>Correção de desequilíbrios posturais e alívio de dores crônicas.</a:t>
            </a:r>
          </a:p>
          <a:p>
            <a:pPr marL="384048" indent="-384048">
              <a:spcAft>
                <a:spcPts val="500"/>
              </a:spcAft>
            </a:pPr>
            <a:r>
              <a:rPr sz="1200" b="1" i="0">
                <a:solidFill>
                  <a:srgbClr val="C00000"/>
                </a:solidFill>
                <a:latin typeface="Trebuchet MS"/>
              </a:rPr>
              <a:t>4.  </a:t>
            </a:r>
            <a:r>
              <a:rPr sz="1300" b="1" i="0">
                <a:solidFill>
                  <a:srgbClr val="C00000"/>
                </a:solidFill>
                <a:latin typeface="Trebuchet MS"/>
              </a:rPr>
              <a:t>Pilates</a:t>
            </a:r>
          </a:p>
          <a:p>
            <a:pPr marL="384048" indent="0">
              <a:spcAft>
                <a:spcPts val="1400"/>
              </a:spcAft>
            </a:pPr>
            <a:r>
              <a:rPr sz="1100" b="0" i="0">
                <a:solidFill>
                  <a:srgbClr val="696969"/>
                </a:solidFill>
                <a:latin typeface="Trebuchet MS"/>
              </a:rPr>
              <a:t>Força, mobilidade, postura e consciência corporal com equipamentos.</a:t>
            </a:r>
          </a:p>
          <a:p>
            <a:pPr marL="384048" indent="-384048">
              <a:spcAft>
                <a:spcPts val="500"/>
              </a:spcAft>
            </a:pPr>
            <a:r>
              <a:rPr sz="1200" b="1" i="0">
                <a:solidFill>
                  <a:srgbClr val="C00000"/>
                </a:solidFill>
                <a:latin typeface="Trebuchet MS"/>
              </a:rPr>
              <a:t>5.  </a:t>
            </a:r>
            <a:r>
              <a:rPr sz="1300" b="1" i="0">
                <a:solidFill>
                  <a:srgbClr val="C00000"/>
                </a:solidFill>
                <a:latin typeface="Trebuchet MS"/>
              </a:rPr>
              <a:t>Hidroterapia</a:t>
            </a:r>
          </a:p>
          <a:p>
            <a:pPr marL="384048" indent="0">
              <a:spcAft>
                <a:spcPts val="1400"/>
              </a:spcAft>
            </a:pPr>
            <a:r>
              <a:rPr sz="1100" b="0" i="0">
                <a:solidFill>
                  <a:srgbClr val="696969"/>
                </a:solidFill>
                <a:latin typeface="Trebuchet MS"/>
              </a:rPr>
              <a:t>Reabilitação em meio aquático, com menor sobrecarga articular.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874519"/>
            <a:ext cx="50292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84048" indent="-384048">
              <a:spcAft>
                <a:spcPts val="500"/>
              </a:spcAft>
            </a:pPr>
            <a:r>
              <a:rPr sz="1200" b="1" i="0">
                <a:solidFill>
                  <a:srgbClr val="C00000"/>
                </a:solidFill>
                <a:latin typeface="Trebuchet MS"/>
              </a:rPr>
              <a:t>6.  </a:t>
            </a:r>
            <a:r>
              <a:rPr sz="1300" b="1" i="0">
                <a:solidFill>
                  <a:srgbClr val="C00000"/>
                </a:solidFill>
                <a:latin typeface="Trebuchet MS"/>
              </a:rPr>
              <a:t>Fisioterapia Geriátrica e Gerontologia</a:t>
            </a:r>
          </a:p>
          <a:p>
            <a:pPr marL="384048" indent="0">
              <a:spcAft>
                <a:spcPts val="1400"/>
              </a:spcAft>
            </a:pPr>
            <a:r>
              <a:rPr sz="1100" b="0" i="0">
                <a:solidFill>
                  <a:srgbClr val="696969"/>
                </a:solidFill>
                <a:latin typeface="Trebuchet MS"/>
              </a:rPr>
              <a:t>Funcionalidade, equilíbrio e prevenção de quedas no idoso.</a:t>
            </a:r>
          </a:p>
          <a:p>
            <a:pPr marL="384048" indent="-384048">
              <a:spcAft>
                <a:spcPts val="500"/>
              </a:spcAft>
            </a:pPr>
            <a:r>
              <a:rPr sz="1200" b="1" i="0">
                <a:solidFill>
                  <a:srgbClr val="C00000"/>
                </a:solidFill>
                <a:latin typeface="Trebuchet MS"/>
              </a:rPr>
              <a:t>7.  </a:t>
            </a:r>
            <a:r>
              <a:rPr sz="1300" b="1" i="0">
                <a:solidFill>
                  <a:srgbClr val="C00000"/>
                </a:solidFill>
                <a:latin typeface="Trebuchet MS"/>
              </a:rPr>
              <a:t>Fisioterapia Neurológica</a:t>
            </a:r>
          </a:p>
          <a:p>
            <a:pPr marL="384048" indent="0">
              <a:spcAft>
                <a:spcPts val="1400"/>
              </a:spcAft>
            </a:pPr>
            <a:r>
              <a:rPr sz="1100" b="0" i="0">
                <a:solidFill>
                  <a:srgbClr val="696969"/>
                </a:solidFill>
                <a:latin typeface="Trebuchet MS"/>
              </a:rPr>
              <a:t>Reabilitação funcional em doenças e lesões neurológicas.</a:t>
            </a:r>
          </a:p>
          <a:p>
            <a:pPr marL="384048" indent="-384048">
              <a:spcAft>
                <a:spcPts val="500"/>
              </a:spcAft>
            </a:pPr>
            <a:r>
              <a:rPr sz="1200" b="1" i="0">
                <a:solidFill>
                  <a:srgbClr val="C00000"/>
                </a:solidFill>
                <a:latin typeface="Trebuchet MS"/>
              </a:rPr>
              <a:t>8.  </a:t>
            </a:r>
            <a:r>
              <a:rPr sz="1300" b="1" i="0">
                <a:solidFill>
                  <a:srgbClr val="C00000"/>
                </a:solidFill>
                <a:latin typeface="Trebuchet MS"/>
              </a:rPr>
              <a:t>Terapias Manuais e Liberação Miofascial</a:t>
            </a:r>
          </a:p>
          <a:p>
            <a:pPr marL="384048" indent="0">
              <a:spcAft>
                <a:spcPts val="1400"/>
              </a:spcAft>
            </a:pPr>
            <a:r>
              <a:rPr sz="1100" b="0" i="0">
                <a:solidFill>
                  <a:srgbClr val="696969"/>
                </a:solidFill>
                <a:latin typeface="Trebuchet MS"/>
              </a:rPr>
              <a:t>Quiropraxia e técnicas manuais para dor e mobilidade.</a:t>
            </a:r>
          </a:p>
          <a:p>
            <a:pPr marL="384048" indent="-384048">
              <a:spcAft>
                <a:spcPts val="500"/>
              </a:spcAft>
            </a:pPr>
            <a:r>
              <a:rPr sz="1200" b="1" i="0">
                <a:solidFill>
                  <a:srgbClr val="C00000"/>
                </a:solidFill>
                <a:latin typeface="Trebuchet MS"/>
              </a:rPr>
              <a:t>9.  </a:t>
            </a:r>
            <a:r>
              <a:rPr sz="1300" b="1" i="0">
                <a:solidFill>
                  <a:srgbClr val="C00000"/>
                </a:solidFill>
                <a:latin typeface="Trebuchet MS"/>
              </a:rPr>
              <a:t>Drenagem Linfática</a:t>
            </a:r>
          </a:p>
          <a:p>
            <a:pPr marL="384048" indent="0">
              <a:spcAft>
                <a:spcPts val="1400"/>
              </a:spcAft>
            </a:pPr>
            <a:r>
              <a:rPr sz="1100" b="0" i="0">
                <a:solidFill>
                  <a:srgbClr val="696969"/>
                </a:solidFill>
                <a:latin typeface="Trebuchet MS"/>
              </a:rPr>
              <a:t>Redução de edemas e suporte à recuperação pós-operatória.</a:t>
            </a:r>
          </a:p>
          <a:p>
            <a:pPr marL="384048" indent="-384048">
              <a:spcAft>
                <a:spcPts val="500"/>
              </a:spcAft>
            </a:pPr>
            <a:r>
              <a:rPr sz="1200" b="1" i="0">
                <a:solidFill>
                  <a:srgbClr val="C00000"/>
                </a:solidFill>
                <a:latin typeface="Trebuchet MS"/>
              </a:rPr>
              <a:t>10.  </a:t>
            </a:r>
            <a:r>
              <a:rPr sz="1300" b="1" i="0">
                <a:solidFill>
                  <a:srgbClr val="C00000"/>
                </a:solidFill>
                <a:latin typeface="Trebuchet MS"/>
              </a:rPr>
              <a:t>Fisioterapia Respiratória Ambulatorial</a:t>
            </a:r>
          </a:p>
          <a:p>
            <a:pPr marL="384048" indent="0">
              <a:spcAft>
                <a:spcPts val="1400"/>
              </a:spcAft>
            </a:pPr>
            <a:r>
              <a:rPr sz="1100" b="0" i="0">
                <a:solidFill>
                  <a:srgbClr val="696969"/>
                </a:solidFill>
                <a:latin typeface="Trebuchet MS"/>
              </a:rPr>
              <a:t>Reabilitação pulmonar e suporte respiratório ambulatorial.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73736" y="612648"/>
            <a:ext cx="5367528" cy="548640"/>
          </a:xfrm>
          <a:prstGeom prst="roundRect">
            <a:avLst/>
          </a:prstGeom>
          <a:solidFill>
            <a:srgbClr val="F7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512064"/>
            <a:ext cx="10607040" cy="7315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r>
              <a:rPr sz="4000" b="1" i="0">
                <a:solidFill>
                  <a:srgbClr val="C00000"/>
                </a:solidFill>
                <a:latin typeface="Trebuchet MS"/>
              </a:rPr>
              <a:t>Modalidades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129844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1">
                <a:solidFill>
                  <a:srgbClr val="696969"/>
                </a:solidFill>
                <a:latin typeface="Trebuchet MS"/>
              </a:rPr>
              <a:t>Nossas áreas de atuação em imagens  (1 de 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" y="1938528"/>
            <a:ext cx="1867204" cy="269748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1">
                <a:solidFill>
                  <a:srgbClr val="9E9E9E"/>
                </a:solidFill>
                <a:latin typeface="Trebuchet MS"/>
              </a:rPr>
              <a:t>Foto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" y="4754880"/>
            <a:ext cx="18672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C00000"/>
                </a:solidFill>
                <a:latin typeface="Trebuchet MS"/>
              </a:rPr>
              <a:t>Ortopédica e Esportiva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55340" y="1938528"/>
            <a:ext cx="1867204" cy="269748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1">
                <a:solidFill>
                  <a:srgbClr val="9E9E9E"/>
                </a:solidFill>
                <a:latin typeface="Trebuchet MS"/>
              </a:rPr>
              <a:t>Foto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55340" y="4754880"/>
            <a:ext cx="18672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C00000"/>
                </a:solidFill>
                <a:latin typeface="Trebuchet MS"/>
              </a:rPr>
              <a:t>Pélvica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96865" y="1938528"/>
            <a:ext cx="1867204" cy="269748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1">
                <a:solidFill>
                  <a:srgbClr val="9E9E9E"/>
                </a:solidFill>
                <a:latin typeface="Trebuchet MS"/>
              </a:rPr>
              <a:t>Foto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96865" y="4754880"/>
            <a:ext cx="18672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C00000"/>
                </a:solidFill>
                <a:latin typeface="Trebuchet MS"/>
              </a:rPr>
              <a:t>RPG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38390" y="1938528"/>
            <a:ext cx="1867204" cy="269748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1">
                <a:solidFill>
                  <a:srgbClr val="9E9E9E"/>
                </a:solidFill>
                <a:latin typeface="Trebuchet MS"/>
              </a:rPr>
              <a:t>Foto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8390" y="4754880"/>
            <a:ext cx="18672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C00000"/>
                </a:solidFill>
                <a:latin typeface="Trebuchet MS"/>
              </a:rPr>
              <a:t>Pilates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79915" y="1938528"/>
            <a:ext cx="1867204" cy="269748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1">
                <a:solidFill>
                  <a:srgbClr val="9E9E9E"/>
                </a:solidFill>
                <a:latin typeface="Trebuchet MS"/>
              </a:rPr>
              <a:t>Foto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9915" y="4754880"/>
            <a:ext cx="18672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C00000"/>
                </a:solidFill>
                <a:latin typeface="Trebuchet MS"/>
              </a:rPr>
              <a:t>Hidroterapia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73736" y="612648"/>
            <a:ext cx="5367528" cy="548640"/>
          </a:xfrm>
          <a:prstGeom prst="roundRect">
            <a:avLst/>
          </a:prstGeom>
          <a:solidFill>
            <a:srgbClr val="F7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512064"/>
            <a:ext cx="10607040" cy="7315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r>
              <a:rPr sz="4000" b="1" i="0">
                <a:solidFill>
                  <a:srgbClr val="C00000"/>
                </a:solidFill>
                <a:latin typeface="Trebuchet MS"/>
              </a:rPr>
              <a:t>Modalidades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129844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1">
                <a:solidFill>
                  <a:srgbClr val="696969"/>
                </a:solidFill>
                <a:latin typeface="Trebuchet MS"/>
              </a:rPr>
              <a:t>Nossas áreas de atuação em imagens  (2 de 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" y="1938528"/>
            <a:ext cx="1867204" cy="269748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1">
                <a:solidFill>
                  <a:srgbClr val="9E9E9E"/>
                </a:solidFill>
                <a:latin typeface="Trebuchet MS"/>
              </a:rPr>
              <a:t>Foto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" y="4754880"/>
            <a:ext cx="18672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C00000"/>
                </a:solidFill>
                <a:latin typeface="Trebuchet MS"/>
              </a:rPr>
              <a:t>Geriátrica e Gerontologia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55340" y="1938528"/>
            <a:ext cx="1867204" cy="269748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1">
                <a:solidFill>
                  <a:srgbClr val="9E9E9E"/>
                </a:solidFill>
                <a:latin typeface="Trebuchet MS"/>
              </a:rPr>
              <a:t>Foto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55340" y="4754880"/>
            <a:ext cx="18672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C00000"/>
                </a:solidFill>
                <a:latin typeface="Trebuchet MS"/>
              </a:rPr>
              <a:t>Neurológica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96865" y="1938528"/>
            <a:ext cx="1867204" cy="269748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1">
                <a:solidFill>
                  <a:srgbClr val="9E9E9E"/>
                </a:solidFill>
                <a:latin typeface="Trebuchet MS"/>
              </a:rPr>
              <a:t>Foto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96865" y="4754880"/>
            <a:ext cx="18672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C00000"/>
                </a:solidFill>
                <a:latin typeface="Trebuchet MS"/>
              </a:rPr>
              <a:t>Terapias Manuais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38390" y="1938528"/>
            <a:ext cx="1867204" cy="269748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1">
                <a:solidFill>
                  <a:srgbClr val="9E9E9E"/>
                </a:solidFill>
                <a:latin typeface="Trebuchet MS"/>
              </a:rPr>
              <a:t>Foto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8390" y="4754880"/>
            <a:ext cx="18672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C00000"/>
                </a:solidFill>
                <a:latin typeface="Trebuchet MS"/>
              </a:rPr>
              <a:t>Drenagem Linfática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79915" y="1938528"/>
            <a:ext cx="1867204" cy="269748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1">
                <a:solidFill>
                  <a:srgbClr val="9E9E9E"/>
                </a:solidFill>
                <a:latin typeface="Trebuchet MS"/>
              </a:rPr>
              <a:t>Foto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9915" y="4754880"/>
            <a:ext cx="18672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C00000"/>
                </a:solidFill>
                <a:latin typeface="Trebuchet MS"/>
              </a:rPr>
              <a:t>Respiratória Ambulatorial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73736" y="612648"/>
            <a:ext cx="6840727" cy="548640"/>
          </a:xfrm>
          <a:prstGeom prst="roundRect">
            <a:avLst/>
          </a:prstGeom>
          <a:solidFill>
            <a:srgbClr val="F7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512064"/>
            <a:ext cx="10607040" cy="7315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r>
              <a:rPr sz="4000" b="1" i="0">
                <a:solidFill>
                  <a:srgbClr val="C00000"/>
                </a:solidFill>
                <a:latin typeface="Trebuchet MS"/>
              </a:rPr>
              <a:t>Apresentação em Vídeo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69767" y="1353312"/>
            <a:ext cx="5852160" cy="324612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1">
                <a:solidFill>
                  <a:srgbClr val="9E9E9E"/>
                </a:solidFill>
                <a:latin typeface="Trebuchet MS"/>
              </a:rPr>
              <a:t>Área reservada para o vídeo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773168"/>
            <a:ext cx="92628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>
                <a:solidFill>
                  <a:srgbClr val="C00000"/>
                </a:solidFill>
                <a:latin typeface="Trebuchet MS"/>
              </a:rPr>
              <a:t>Márcia  </a:t>
            </a:r>
            <a:r>
              <a:rPr sz="1300" b="1" i="0">
                <a:solidFill>
                  <a:srgbClr val="696969"/>
                </a:solidFill>
                <a:latin typeface="Trebuchet MS"/>
              </a:rPr>
              <a:t>— CREFITO 39705-F
</a:t>
            </a:r>
          </a:p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696969"/>
                </a:solidFill>
                <a:latin typeface="Trebuchet MS"/>
              </a:rPr>
              <a:t>Fisioterapeuta e educadora física, especialista em Hidroterapia, Fisioterapia Esportiva e Geriatria e Gerontologia.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73736" y="612648"/>
            <a:ext cx="5367528" cy="548640"/>
          </a:xfrm>
          <a:prstGeom prst="roundRect">
            <a:avLst/>
          </a:prstGeom>
          <a:solidFill>
            <a:srgbClr val="F7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512064"/>
            <a:ext cx="10607040" cy="7315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r>
              <a:rPr sz="4000" b="1" i="0">
                <a:solidFill>
                  <a:srgbClr val="C00000"/>
                </a:solidFill>
                <a:latin typeface="Trebuchet MS"/>
              </a:rPr>
              <a:t>Nossa Equipe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129844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1">
                <a:solidFill>
                  <a:srgbClr val="696969"/>
                </a:solidFill>
                <a:latin typeface="Trebuchet MS"/>
              </a:rPr>
              <a:t>Seis fisioterapeutas, formações complementares, um só cuidado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" y="1874519"/>
            <a:ext cx="1540763" cy="210312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1">
                <a:solidFill>
                  <a:srgbClr val="9E9E9E"/>
                </a:solidFill>
                <a:latin typeface="Trebuchet MS"/>
              </a:rPr>
              <a:t>Foto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4096512"/>
            <a:ext cx="1632204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C00000"/>
                </a:solidFill>
                <a:latin typeface="Trebuchet MS"/>
              </a:rPr>
              <a:t>Márcia</a:t>
            </a:r>
          </a:p>
          <a:p>
            <a:pPr algn="ctr">
              <a:lnSpc>
                <a:spcPct val="105000"/>
              </a:lnSpc>
              <a:spcBef>
                <a:spcPts val="300"/>
              </a:spcBef>
            </a:pPr>
            <a:r>
              <a:rPr sz="900" b="0" i="0">
                <a:solidFill>
                  <a:srgbClr val="696969"/>
                </a:solidFill>
                <a:latin typeface="Trebuchet MS"/>
              </a:rPr>
              <a:t>Hidroterapia · Esportiva · Gerontologia</a:t>
            </a:r>
          </a:p>
          <a:p>
            <a:pPr algn="ctr">
              <a:spcBef>
                <a:spcPts val="200"/>
              </a:spcBef>
            </a:pPr>
            <a:r>
              <a:rPr sz="850" b="0" i="1">
                <a:solidFill>
                  <a:srgbClr val="696969"/>
                </a:solidFill>
                <a:latin typeface="Trebuchet MS"/>
              </a:rPr>
              <a:t>CREFITO 39705-F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324" y="1915578"/>
            <a:ext cx="1540763" cy="20210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46604" y="4096512"/>
            <a:ext cx="1632204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C00000"/>
                </a:solidFill>
                <a:latin typeface="Trebuchet MS"/>
              </a:rPr>
              <a:t>Dra. Ana Paula Volkers</a:t>
            </a:r>
          </a:p>
          <a:p>
            <a:pPr algn="ctr">
              <a:lnSpc>
                <a:spcPct val="105000"/>
              </a:lnSpc>
              <a:spcBef>
                <a:spcPts val="300"/>
              </a:spcBef>
            </a:pPr>
            <a:r>
              <a:rPr sz="900" b="0" i="0">
                <a:solidFill>
                  <a:srgbClr val="696969"/>
                </a:solidFill>
                <a:latin typeface="Trebuchet MS"/>
              </a:rPr>
              <a:t>Saúde da Mulher e do Homem</a:t>
            </a:r>
          </a:p>
          <a:p>
            <a:pPr algn="ctr">
              <a:spcBef>
                <a:spcPts val="200"/>
              </a:spcBef>
            </a:pPr>
            <a:r>
              <a:rPr sz="850" b="0" i="1">
                <a:solidFill>
                  <a:srgbClr val="696969"/>
                </a:solidFill>
                <a:latin typeface="Trebuchet MS"/>
              </a:rPr>
              <a:t>CREFITO 213821-F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1" y="1874519"/>
            <a:ext cx="1540763" cy="210312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1">
                <a:solidFill>
                  <a:srgbClr val="9E9E9E"/>
                </a:solidFill>
                <a:latin typeface="Trebuchet MS"/>
              </a:rPr>
              <a:t>Foto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5112" y="4096512"/>
            <a:ext cx="1632204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C00000"/>
                </a:solidFill>
                <a:latin typeface="Trebuchet MS"/>
              </a:rPr>
              <a:t>Caroline Espíndola de Andrade</a:t>
            </a:r>
          </a:p>
          <a:p>
            <a:pPr algn="ctr">
              <a:lnSpc>
                <a:spcPct val="105000"/>
              </a:lnSpc>
              <a:spcBef>
                <a:spcPts val="300"/>
              </a:spcBef>
            </a:pPr>
            <a:r>
              <a:rPr sz="900" b="0" i="0">
                <a:solidFill>
                  <a:srgbClr val="696969"/>
                </a:solidFill>
                <a:latin typeface="Trebuchet MS"/>
              </a:rPr>
              <a:t>Gerontologia</a:t>
            </a:r>
          </a:p>
          <a:p>
            <a:pPr algn="ctr">
              <a:spcBef>
                <a:spcPts val="200"/>
              </a:spcBef>
            </a:pPr>
            <a:r>
              <a:rPr sz="850" b="0" i="1">
                <a:solidFill>
                  <a:srgbClr val="696969"/>
                </a:solidFill>
                <a:latin typeface="Trebuchet MS"/>
              </a:rPr>
              <a:t>CREFITO 212383-F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9339" y="1874519"/>
            <a:ext cx="1540763" cy="210312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1">
                <a:solidFill>
                  <a:srgbClr val="9E9E9E"/>
                </a:solidFill>
                <a:latin typeface="Trebuchet MS"/>
              </a:rPr>
              <a:t>Foto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3619" y="4096512"/>
            <a:ext cx="1632204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C00000"/>
                </a:solidFill>
                <a:latin typeface="Trebuchet MS"/>
              </a:rPr>
              <a:t>Rosália Firmino da Silva</a:t>
            </a:r>
          </a:p>
          <a:p>
            <a:pPr algn="ctr">
              <a:lnSpc>
                <a:spcPct val="105000"/>
              </a:lnSpc>
              <a:spcBef>
                <a:spcPts val="300"/>
              </a:spcBef>
            </a:pPr>
            <a:r>
              <a:rPr sz="900" b="0" i="0">
                <a:solidFill>
                  <a:srgbClr val="696969"/>
                </a:solidFill>
                <a:latin typeface="Trebuchet MS"/>
              </a:rPr>
              <a:t>UTI · Ortopédica · Neurológica</a:t>
            </a:r>
          </a:p>
          <a:p>
            <a:pPr algn="ctr">
              <a:spcBef>
                <a:spcPts val="200"/>
              </a:spcBef>
            </a:pPr>
            <a:r>
              <a:rPr sz="850" b="0" i="1">
                <a:solidFill>
                  <a:srgbClr val="696969"/>
                </a:solidFill>
                <a:latin typeface="Trebuchet MS"/>
              </a:rPr>
              <a:t>CREFITO 222312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7848" y="1874519"/>
            <a:ext cx="1540763" cy="210312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1">
                <a:solidFill>
                  <a:srgbClr val="9E9E9E"/>
                </a:solidFill>
                <a:latin typeface="Trebuchet MS"/>
              </a:rPr>
              <a:t>Foto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4096512"/>
            <a:ext cx="1632204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C00000"/>
                </a:solidFill>
                <a:latin typeface="Trebuchet MS"/>
              </a:rPr>
              <a:t>Dr. Thales Romero</a:t>
            </a:r>
          </a:p>
          <a:p>
            <a:pPr algn="ctr">
              <a:lnSpc>
                <a:spcPct val="105000"/>
              </a:lnSpc>
              <a:spcBef>
                <a:spcPts val="300"/>
              </a:spcBef>
            </a:pPr>
            <a:r>
              <a:rPr sz="900" b="0" i="0">
                <a:solidFill>
                  <a:srgbClr val="696969"/>
                </a:solidFill>
                <a:latin typeface="Trebuchet MS"/>
              </a:rPr>
              <a:t>Esporte e Exercício</a:t>
            </a:r>
          </a:p>
          <a:p>
            <a:pPr algn="ctr">
              <a:spcBef>
                <a:spcPts val="200"/>
              </a:spcBef>
            </a:pPr>
            <a:r>
              <a:rPr sz="850" b="0" i="1">
                <a:solidFill>
                  <a:srgbClr val="696969"/>
                </a:solidFill>
                <a:latin typeface="Trebuchet MS"/>
              </a:rPr>
              <a:t>CREFITO 3244103-F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06356" y="1874519"/>
            <a:ext cx="1540763" cy="210312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1">
                <a:solidFill>
                  <a:srgbClr val="9E9E9E"/>
                </a:solidFill>
                <a:latin typeface="Trebuchet MS"/>
              </a:rPr>
              <a:t>Foto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60636" y="4096512"/>
            <a:ext cx="1632204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C00000"/>
                </a:solidFill>
                <a:latin typeface="Trebuchet MS"/>
              </a:rPr>
              <a:t>Marcelo Hirose</a:t>
            </a:r>
          </a:p>
          <a:p>
            <a:pPr algn="ctr">
              <a:lnSpc>
                <a:spcPct val="105000"/>
              </a:lnSpc>
              <a:spcBef>
                <a:spcPts val="300"/>
              </a:spcBef>
            </a:pPr>
            <a:r>
              <a:rPr sz="900" b="0" i="0">
                <a:solidFill>
                  <a:srgbClr val="696969"/>
                </a:solidFill>
                <a:latin typeface="Trebuchet MS"/>
              </a:rPr>
              <a:t>Ortopédica · Fisiologia e Biomecânica</a:t>
            </a:r>
          </a:p>
          <a:p>
            <a:pPr algn="ctr">
              <a:spcBef>
                <a:spcPts val="200"/>
              </a:spcBef>
            </a:pPr>
            <a:r>
              <a:rPr sz="850" b="0" i="1">
                <a:solidFill>
                  <a:srgbClr val="696969"/>
                </a:solidFill>
                <a:latin typeface="Trebuchet MS"/>
              </a:rPr>
              <a:t>CREFITO 115679-F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73736" y="612648"/>
            <a:ext cx="5367528" cy="548640"/>
          </a:xfrm>
          <a:prstGeom prst="roundRect">
            <a:avLst/>
          </a:prstGeom>
          <a:solidFill>
            <a:srgbClr val="F7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512064"/>
            <a:ext cx="10607040" cy="7315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r>
              <a:rPr sz="4000" b="1" i="0">
                <a:solidFill>
                  <a:srgbClr val="C00000"/>
                </a:solidFill>
                <a:latin typeface="Trebuchet MS"/>
              </a:rPr>
              <a:t>Nossa Equipe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83080"/>
            <a:ext cx="2834640" cy="361188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1">
                <a:solidFill>
                  <a:srgbClr val="9E9E9E"/>
                </a:solidFill>
                <a:latin typeface="Trebuchet MS"/>
              </a:rPr>
              <a:t>Foto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9080" y="1874519"/>
            <a:ext cx="717804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C00000"/>
                </a:solidFill>
                <a:latin typeface="Trebuchet MS"/>
              </a:rPr>
              <a:t>Márcia</a:t>
            </a:r>
          </a:p>
          <a:p>
            <a:pPr>
              <a:spcBef>
                <a:spcPts val="400"/>
              </a:spcBef>
            </a:pPr>
            <a:r>
              <a:rPr sz="1300" b="0" i="1">
                <a:solidFill>
                  <a:srgbClr val="696969"/>
                </a:solidFill>
                <a:latin typeface="Trebuchet MS"/>
              </a:rPr>
              <a:t>Hidroterapia · Esportiva · Gerontologia   ·   CREFITO 39705-F</a:t>
            </a:r>
          </a:p>
          <a:p>
            <a:pPr marL="274320" indent="-274320">
              <a:lnSpc>
                <a:spcPct val="120000"/>
              </a:lnSpc>
              <a:spcBef>
                <a:spcPts val="1100"/>
              </a:spcBef>
            </a:pPr>
            <a:r>
              <a:rPr sz="1500" b="1" i="0">
                <a:solidFill>
                  <a:srgbClr val="C00000"/>
                </a:solidFill>
                <a:latin typeface="Trebuchet MS"/>
              </a:rPr>
              <a:t>•  </a:t>
            </a:r>
            <a:r>
              <a:rPr sz="1500" b="0" i="0">
                <a:solidFill>
                  <a:srgbClr val="696969"/>
                </a:solidFill>
                <a:latin typeface="Trebuchet MS"/>
              </a:rPr>
              <a:t>Fisioterapeuta e educadora física.</a:t>
            </a:r>
          </a:p>
          <a:p>
            <a:pPr marL="274320" indent="-274320">
              <a:lnSpc>
                <a:spcPct val="120000"/>
              </a:lnSpc>
              <a:spcBef>
                <a:spcPts val="1100"/>
              </a:spcBef>
            </a:pPr>
            <a:r>
              <a:rPr sz="1500" b="1" i="0">
                <a:solidFill>
                  <a:srgbClr val="C00000"/>
                </a:solidFill>
                <a:latin typeface="Trebuchet MS"/>
              </a:rPr>
              <a:t>•  </a:t>
            </a:r>
            <a:r>
              <a:rPr sz="1500" b="0" i="0">
                <a:solidFill>
                  <a:srgbClr val="696969"/>
                </a:solidFill>
                <a:latin typeface="Trebuchet MS"/>
              </a:rPr>
              <a:t>Especialista em Hidroterapia, Fisioterapia Esportiva e Geriatria e Gerontologia.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705856"/>
            <a:ext cx="10058400" cy="38404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r>
              <a:rPr sz="1500" b="1" i="1">
                <a:solidFill>
                  <a:srgbClr val="C00000"/>
                </a:solidFill>
                <a:latin typeface="Trebuchet MS"/>
              </a:rPr>
              <a:t>Analgesia / Funcionalidade / Mobilidade / Fortalecimento / Equilíbrio / Reabilitação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73736" y="612648"/>
            <a:ext cx="5367528" cy="548640"/>
          </a:xfrm>
          <a:prstGeom prst="roundRect">
            <a:avLst/>
          </a:prstGeom>
          <a:solidFill>
            <a:srgbClr val="F7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512064"/>
            <a:ext cx="10607040" cy="7315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r>
              <a:rPr sz="4000" b="1" i="0">
                <a:solidFill>
                  <a:srgbClr val="C00000"/>
                </a:solidFill>
                <a:latin typeface="Trebuchet MS"/>
              </a:rPr>
              <a:t>Nossa Equipe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914" y="1783080"/>
            <a:ext cx="2753611" cy="3611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69080" y="1874519"/>
            <a:ext cx="717804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C00000"/>
                </a:solidFill>
                <a:latin typeface="Trebuchet MS"/>
              </a:rPr>
              <a:t>Dra. Ana Paula Volkers</a:t>
            </a:r>
          </a:p>
          <a:p>
            <a:pPr>
              <a:spcBef>
                <a:spcPts val="400"/>
              </a:spcBef>
            </a:pPr>
            <a:r>
              <a:rPr sz="1300" b="0" i="1">
                <a:solidFill>
                  <a:srgbClr val="696969"/>
                </a:solidFill>
                <a:latin typeface="Trebuchet MS"/>
              </a:rPr>
              <a:t>Saúde da Mulher e do Homem   ·   CREFITO 213821-F</a:t>
            </a:r>
          </a:p>
          <a:p>
            <a:pPr marL="274320" indent="-274320">
              <a:lnSpc>
                <a:spcPct val="120000"/>
              </a:lnSpc>
              <a:spcBef>
                <a:spcPts val="1100"/>
              </a:spcBef>
            </a:pPr>
            <a:r>
              <a:rPr sz="1500" b="1" i="0">
                <a:solidFill>
                  <a:srgbClr val="C00000"/>
                </a:solidFill>
                <a:latin typeface="Trebuchet MS"/>
              </a:rPr>
              <a:t>•  </a:t>
            </a:r>
            <a:r>
              <a:rPr sz="1500" b="0" i="0">
                <a:solidFill>
                  <a:srgbClr val="696969"/>
                </a:solidFill>
                <a:latin typeface="Trebuchet MS"/>
              </a:rPr>
              <a:t>Fisioterapeuta especializada em Saúde da Mulher e do Homem pela Santa Casa de São Paulo.</a:t>
            </a:r>
          </a:p>
          <a:p>
            <a:pPr marL="274320" indent="-274320">
              <a:lnSpc>
                <a:spcPct val="120000"/>
              </a:lnSpc>
              <a:spcBef>
                <a:spcPts val="1100"/>
              </a:spcBef>
            </a:pPr>
            <a:r>
              <a:rPr sz="1500" b="1" i="0">
                <a:solidFill>
                  <a:srgbClr val="C00000"/>
                </a:solidFill>
                <a:latin typeface="Trebuchet MS"/>
              </a:rPr>
              <a:t>•  </a:t>
            </a:r>
            <a:r>
              <a:rPr sz="1500" b="0" i="0">
                <a:solidFill>
                  <a:srgbClr val="696969"/>
                </a:solidFill>
                <a:latin typeface="Trebuchet MS"/>
              </a:rPr>
              <a:t>Atuação em Fisioterapia Pélvica.</a:t>
            </a:r>
          </a:p>
          <a:p>
            <a:pPr marL="274320" indent="-274320">
              <a:lnSpc>
                <a:spcPct val="120000"/>
              </a:lnSpc>
              <a:spcBef>
                <a:spcPts val="1100"/>
              </a:spcBef>
            </a:pPr>
            <a:r>
              <a:rPr sz="1500" b="1" i="0">
                <a:solidFill>
                  <a:srgbClr val="C00000"/>
                </a:solidFill>
                <a:latin typeface="Trebuchet MS"/>
              </a:rPr>
              <a:t>•  </a:t>
            </a:r>
            <a:r>
              <a:rPr sz="1500" b="0" i="0">
                <a:solidFill>
                  <a:srgbClr val="696969"/>
                </a:solidFill>
                <a:latin typeface="Trebuchet MS"/>
              </a:rPr>
              <a:t>Formação completa em RPG e Pilates.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705856"/>
            <a:ext cx="10058400" cy="38404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r>
              <a:rPr sz="1500" b="1" i="1">
                <a:solidFill>
                  <a:srgbClr val="C00000"/>
                </a:solidFill>
                <a:latin typeface="Trebuchet MS"/>
              </a:rPr>
              <a:t>Analgesia / Funcionalidade / Mobilidade / Fortalecimento / Equilíbrio / Reabilitação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73736" y="612648"/>
            <a:ext cx="5367528" cy="548640"/>
          </a:xfrm>
          <a:prstGeom prst="roundRect">
            <a:avLst/>
          </a:prstGeom>
          <a:solidFill>
            <a:srgbClr val="F7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512064"/>
            <a:ext cx="10607040" cy="7315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r>
              <a:rPr sz="4000" b="1" i="0">
                <a:solidFill>
                  <a:srgbClr val="C00000"/>
                </a:solidFill>
                <a:latin typeface="Trebuchet MS"/>
              </a:rPr>
              <a:t>Nossa Equipe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83080"/>
            <a:ext cx="2834640" cy="361188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1">
                <a:solidFill>
                  <a:srgbClr val="9E9E9E"/>
                </a:solidFill>
                <a:latin typeface="Trebuchet MS"/>
              </a:rPr>
              <a:t>Foto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9080" y="1874519"/>
            <a:ext cx="717804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C00000"/>
                </a:solidFill>
                <a:latin typeface="Trebuchet MS"/>
              </a:rPr>
              <a:t>Caroline Espíndola de Andrade</a:t>
            </a:r>
          </a:p>
          <a:p>
            <a:pPr>
              <a:spcBef>
                <a:spcPts val="400"/>
              </a:spcBef>
            </a:pPr>
            <a:r>
              <a:rPr sz="1300" b="0" i="1">
                <a:solidFill>
                  <a:srgbClr val="696969"/>
                </a:solidFill>
                <a:latin typeface="Trebuchet MS"/>
              </a:rPr>
              <a:t>Gerontologia   ·   CREFITO 212383-F</a:t>
            </a:r>
          </a:p>
          <a:p>
            <a:pPr marL="274320" indent="-274320">
              <a:lnSpc>
                <a:spcPct val="120000"/>
              </a:lnSpc>
              <a:spcBef>
                <a:spcPts val="1100"/>
              </a:spcBef>
            </a:pPr>
            <a:r>
              <a:rPr sz="1500" b="1" i="0">
                <a:solidFill>
                  <a:srgbClr val="C00000"/>
                </a:solidFill>
                <a:latin typeface="Trebuchet MS"/>
              </a:rPr>
              <a:t>•  </a:t>
            </a:r>
            <a:r>
              <a:rPr sz="1500" b="0" i="0">
                <a:solidFill>
                  <a:srgbClr val="696969"/>
                </a:solidFill>
                <a:latin typeface="Trebuchet MS"/>
              </a:rPr>
              <a:t>Fisioterapeuta pela Universidade de Mogi das Cruzes.</a:t>
            </a:r>
          </a:p>
          <a:p>
            <a:pPr marL="274320" indent="-274320">
              <a:lnSpc>
                <a:spcPct val="120000"/>
              </a:lnSpc>
              <a:spcBef>
                <a:spcPts val="1100"/>
              </a:spcBef>
            </a:pPr>
            <a:r>
              <a:rPr sz="1500" b="1" i="0">
                <a:solidFill>
                  <a:srgbClr val="C00000"/>
                </a:solidFill>
                <a:latin typeface="Trebuchet MS"/>
              </a:rPr>
              <a:t>•  </a:t>
            </a:r>
            <a:r>
              <a:rPr sz="1500" b="0" i="0">
                <a:solidFill>
                  <a:srgbClr val="696969"/>
                </a:solidFill>
                <a:latin typeface="Trebuchet MS"/>
              </a:rPr>
              <a:t>Especializada em Gerontologia pela FMU.</a:t>
            </a:r>
          </a:p>
          <a:p>
            <a:pPr marL="274320" indent="-274320">
              <a:lnSpc>
                <a:spcPct val="120000"/>
              </a:lnSpc>
              <a:spcBef>
                <a:spcPts val="1100"/>
              </a:spcBef>
            </a:pPr>
            <a:r>
              <a:rPr sz="1500" b="1" i="0">
                <a:solidFill>
                  <a:srgbClr val="C00000"/>
                </a:solidFill>
                <a:latin typeface="Trebuchet MS"/>
              </a:rPr>
              <a:t>•  </a:t>
            </a:r>
            <a:r>
              <a:rPr sz="1500" b="0" i="0">
                <a:solidFill>
                  <a:srgbClr val="696969"/>
                </a:solidFill>
                <a:latin typeface="Trebuchet MS"/>
              </a:rPr>
              <a:t>Formação completa em Pilates.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705856"/>
            <a:ext cx="10058400" cy="38404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r>
              <a:rPr sz="1500" b="1" i="1">
                <a:solidFill>
                  <a:srgbClr val="C00000"/>
                </a:solidFill>
                <a:latin typeface="Trebuchet MS"/>
              </a:rPr>
              <a:t>Analgesia / Funcionalidade / Mobilidade / Fortalecimento / Equilíbrio / Reabilitação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73736" y="612648"/>
            <a:ext cx="5367528" cy="548640"/>
          </a:xfrm>
          <a:prstGeom prst="roundRect">
            <a:avLst/>
          </a:prstGeom>
          <a:solidFill>
            <a:srgbClr val="F7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512064"/>
            <a:ext cx="10607040" cy="7315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r>
              <a:rPr sz="4000" b="1" i="0">
                <a:solidFill>
                  <a:srgbClr val="C00000"/>
                </a:solidFill>
                <a:latin typeface="Trebuchet MS"/>
              </a:rPr>
              <a:t>Nossa Equipe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83080"/>
            <a:ext cx="2834640" cy="361188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1">
                <a:solidFill>
                  <a:srgbClr val="9E9E9E"/>
                </a:solidFill>
                <a:latin typeface="Trebuchet MS"/>
              </a:rPr>
              <a:t>Foto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9080" y="1874519"/>
            <a:ext cx="717804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C00000"/>
                </a:solidFill>
                <a:latin typeface="Trebuchet MS"/>
              </a:rPr>
              <a:t>Rosália Firmino da Silva</a:t>
            </a:r>
          </a:p>
          <a:p>
            <a:pPr>
              <a:spcBef>
                <a:spcPts val="400"/>
              </a:spcBef>
            </a:pPr>
            <a:r>
              <a:rPr sz="1300" b="0" i="1">
                <a:solidFill>
                  <a:srgbClr val="696969"/>
                </a:solidFill>
                <a:latin typeface="Trebuchet MS"/>
              </a:rPr>
              <a:t>UTI · Ortopédica · Neurológica   ·   CREFITO 222312</a:t>
            </a:r>
          </a:p>
          <a:p>
            <a:pPr marL="274320" indent="-274320">
              <a:lnSpc>
                <a:spcPct val="120000"/>
              </a:lnSpc>
              <a:spcBef>
                <a:spcPts val="1100"/>
              </a:spcBef>
            </a:pPr>
            <a:r>
              <a:rPr sz="1500" b="1" i="0">
                <a:solidFill>
                  <a:srgbClr val="C00000"/>
                </a:solidFill>
                <a:latin typeface="Trebuchet MS"/>
              </a:rPr>
              <a:t>•  </a:t>
            </a:r>
            <a:r>
              <a:rPr sz="1500" b="0" i="0">
                <a:solidFill>
                  <a:srgbClr val="696969"/>
                </a:solidFill>
                <a:latin typeface="Trebuchet MS"/>
              </a:rPr>
              <a:t>Fisioterapeuta pelo Centro Universitário Sant’Anna (2014).</a:t>
            </a:r>
          </a:p>
          <a:p>
            <a:pPr marL="274320" indent="-274320">
              <a:lnSpc>
                <a:spcPct val="120000"/>
              </a:lnSpc>
              <a:spcBef>
                <a:spcPts val="1100"/>
              </a:spcBef>
            </a:pPr>
            <a:r>
              <a:rPr sz="1500" b="1" i="0">
                <a:solidFill>
                  <a:srgbClr val="C00000"/>
                </a:solidFill>
                <a:latin typeface="Trebuchet MS"/>
              </a:rPr>
              <a:t>•  </a:t>
            </a:r>
            <a:r>
              <a:rPr sz="1500" b="0" i="0">
                <a:solidFill>
                  <a:srgbClr val="696969"/>
                </a:solidFill>
                <a:latin typeface="Trebuchet MS"/>
              </a:rPr>
              <a:t>Pós-graduada em Fisioterapia em UTI pela Faculdade Iguaçu (2026).</a:t>
            </a:r>
          </a:p>
          <a:p>
            <a:pPr marL="274320" indent="-274320">
              <a:lnSpc>
                <a:spcPct val="120000"/>
              </a:lnSpc>
              <a:spcBef>
                <a:spcPts val="1100"/>
              </a:spcBef>
            </a:pPr>
            <a:r>
              <a:rPr sz="1500" b="1" i="0">
                <a:solidFill>
                  <a:srgbClr val="C00000"/>
                </a:solidFill>
                <a:latin typeface="Trebuchet MS"/>
              </a:rPr>
              <a:t>•  </a:t>
            </a:r>
            <a:r>
              <a:rPr sz="1500" b="0" i="0">
                <a:solidFill>
                  <a:srgbClr val="696969"/>
                </a:solidFill>
                <a:latin typeface="Trebuchet MS"/>
              </a:rPr>
              <a:t>Formação completa em Pilates.</a:t>
            </a:r>
          </a:p>
          <a:p>
            <a:pPr marL="274320" indent="-274320">
              <a:lnSpc>
                <a:spcPct val="120000"/>
              </a:lnSpc>
              <a:spcBef>
                <a:spcPts val="1100"/>
              </a:spcBef>
            </a:pPr>
            <a:r>
              <a:rPr sz="1500" b="1" i="0">
                <a:solidFill>
                  <a:srgbClr val="C00000"/>
                </a:solidFill>
                <a:latin typeface="Trebuchet MS"/>
              </a:rPr>
              <a:t>•  </a:t>
            </a:r>
            <a:r>
              <a:rPr sz="1500" b="0" i="0">
                <a:solidFill>
                  <a:srgbClr val="696969"/>
                </a:solidFill>
                <a:latin typeface="Trebuchet MS"/>
              </a:rPr>
              <a:t>Atuação em Fisioterapia Ortopédica, Neurológica, Respiratória e Pilates.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705856"/>
            <a:ext cx="10058400" cy="38404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r>
              <a:rPr sz="1500" b="1" i="1">
                <a:solidFill>
                  <a:srgbClr val="C00000"/>
                </a:solidFill>
                <a:latin typeface="Trebuchet MS"/>
              </a:rPr>
              <a:t>Analgesia / Funcionalidade / Mobilidade / Fortalecimento / Equilíbrio / Reabilitação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73736" y="612648"/>
            <a:ext cx="5367528" cy="548640"/>
          </a:xfrm>
          <a:prstGeom prst="roundRect">
            <a:avLst/>
          </a:prstGeom>
          <a:solidFill>
            <a:srgbClr val="F7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512064"/>
            <a:ext cx="10607040" cy="7315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r>
              <a:rPr sz="4000" b="1" i="0">
                <a:solidFill>
                  <a:srgbClr val="C00000"/>
                </a:solidFill>
                <a:latin typeface="Trebuchet MS"/>
              </a:rPr>
              <a:t>Nossa Equipe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83080"/>
            <a:ext cx="2834640" cy="361188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1">
                <a:solidFill>
                  <a:srgbClr val="9E9E9E"/>
                </a:solidFill>
                <a:latin typeface="Trebuchet MS"/>
              </a:rPr>
              <a:t>Foto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9080" y="1874519"/>
            <a:ext cx="717804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C00000"/>
                </a:solidFill>
                <a:latin typeface="Trebuchet MS"/>
              </a:rPr>
              <a:t>Dr. Thales Romero</a:t>
            </a:r>
          </a:p>
          <a:p>
            <a:pPr>
              <a:spcBef>
                <a:spcPts val="400"/>
              </a:spcBef>
            </a:pPr>
            <a:r>
              <a:rPr sz="1300" b="0" i="1">
                <a:solidFill>
                  <a:srgbClr val="696969"/>
                </a:solidFill>
                <a:latin typeface="Trebuchet MS"/>
              </a:rPr>
              <a:t>Esporte e Exercício   ·   CREFITO 3244103-F</a:t>
            </a:r>
          </a:p>
          <a:p>
            <a:pPr marL="274320" indent="-274320">
              <a:lnSpc>
                <a:spcPct val="120000"/>
              </a:lnSpc>
              <a:spcBef>
                <a:spcPts val="1100"/>
              </a:spcBef>
            </a:pPr>
            <a:r>
              <a:rPr sz="1500" b="1" i="0">
                <a:solidFill>
                  <a:srgbClr val="C00000"/>
                </a:solidFill>
                <a:latin typeface="Trebuchet MS"/>
              </a:rPr>
              <a:t>•  </a:t>
            </a:r>
            <a:r>
              <a:rPr sz="1500" b="0" i="0">
                <a:solidFill>
                  <a:srgbClr val="696969"/>
                </a:solidFill>
                <a:latin typeface="Trebuchet MS"/>
              </a:rPr>
              <a:t>Fisioterapeuta especializado em Fisioterapia do Esporte e Exercício pelo HCFMUSP.</a:t>
            </a:r>
          </a:p>
          <a:p>
            <a:pPr marL="274320" indent="-274320">
              <a:lnSpc>
                <a:spcPct val="120000"/>
              </a:lnSpc>
              <a:spcBef>
                <a:spcPts val="1100"/>
              </a:spcBef>
            </a:pPr>
            <a:r>
              <a:rPr sz="1500" b="1" i="0">
                <a:solidFill>
                  <a:srgbClr val="C00000"/>
                </a:solidFill>
                <a:latin typeface="Trebuchet MS"/>
              </a:rPr>
              <a:t>•  </a:t>
            </a:r>
            <a:r>
              <a:rPr sz="1500" b="0" i="0">
                <a:solidFill>
                  <a:srgbClr val="696969"/>
                </a:solidFill>
                <a:latin typeface="Trebuchet MS"/>
              </a:rPr>
              <a:t>Atuação com atletas de alto rendimento em clubes.</a:t>
            </a:r>
          </a:p>
          <a:p>
            <a:pPr marL="274320" indent="-274320">
              <a:lnSpc>
                <a:spcPct val="120000"/>
              </a:lnSpc>
              <a:spcBef>
                <a:spcPts val="1100"/>
              </a:spcBef>
            </a:pPr>
            <a:r>
              <a:rPr sz="1500" b="1" i="0">
                <a:solidFill>
                  <a:srgbClr val="C00000"/>
                </a:solidFill>
                <a:latin typeface="Trebuchet MS"/>
              </a:rPr>
              <a:t>•  </a:t>
            </a:r>
            <a:r>
              <a:rPr sz="1500" b="0" i="0">
                <a:solidFill>
                  <a:srgbClr val="696969"/>
                </a:solidFill>
                <a:latin typeface="Trebuchet MS"/>
              </a:rPr>
              <a:t>Reabilitação e recuperação ortopédica de lesões.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705856"/>
            <a:ext cx="10058400" cy="38404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r>
              <a:rPr sz="1500" b="1" i="1">
                <a:solidFill>
                  <a:srgbClr val="C00000"/>
                </a:solidFill>
                <a:latin typeface="Trebuchet MS"/>
              </a:rPr>
              <a:t>Analgesia / Funcionalidade / Mobilidade / Fortalecimento / Equilíbrio / Reabilitação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73736" y="612648"/>
            <a:ext cx="5367528" cy="548640"/>
          </a:xfrm>
          <a:prstGeom prst="roundRect">
            <a:avLst/>
          </a:prstGeom>
          <a:solidFill>
            <a:srgbClr val="F7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512064"/>
            <a:ext cx="10607040" cy="7315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r>
              <a:rPr sz="4000" b="1" i="0">
                <a:solidFill>
                  <a:srgbClr val="C00000"/>
                </a:solidFill>
                <a:latin typeface="Trebuchet MS"/>
              </a:rPr>
              <a:t>Nossa Equipe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83080"/>
            <a:ext cx="2834640" cy="3611880"/>
          </a:xfrm>
          <a:prstGeom prst="roundRect">
            <a:avLst/>
          </a:prstGeom>
          <a:solidFill>
            <a:srgbClr val="F4F4F4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1">
                <a:solidFill>
                  <a:srgbClr val="9E9E9E"/>
                </a:solidFill>
                <a:latin typeface="Trebuchet MS"/>
              </a:rPr>
              <a:t>Foto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9080" y="1874519"/>
            <a:ext cx="717804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C00000"/>
                </a:solidFill>
                <a:latin typeface="Trebuchet MS"/>
              </a:rPr>
              <a:t>Marcelo Hirose</a:t>
            </a:r>
          </a:p>
          <a:p>
            <a:pPr>
              <a:spcBef>
                <a:spcPts val="400"/>
              </a:spcBef>
            </a:pPr>
            <a:r>
              <a:rPr sz="1300" b="0" i="1">
                <a:solidFill>
                  <a:srgbClr val="696969"/>
                </a:solidFill>
                <a:latin typeface="Trebuchet MS"/>
              </a:rPr>
              <a:t>Ortopédica · Fisiologia e Biomecânica   ·   CREFITO 115679-F</a:t>
            </a:r>
          </a:p>
          <a:p>
            <a:pPr marL="274320" indent="-274320">
              <a:lnSpc>
                <a:spcPct val="120000"/>
              </a:lnSpc>
              <a:spcBef>
                <a:spcPts val="1100"/>
              </a:spcBef>
            </a:pPr>
            <a:r>
              <a:rPr sz="1500" b="1" i="0">
                <a:solidFill>
                  <a:srgbClr val="C00000"/>
                </a:solidFill>
                <a:latin typeface="Trebuchet MS"/>
              </a:rPr>
              <a:t>•  </a:t>
            </a:r>
            <a:r>
              <a:rPr sz="1500" b="0" i="0">
                <a:solidFill>
                  <a:srgbClr val="696969"/>
                </a:solidFill>
                <a:latin typeface="Trebuchet MS"/>
              </a:rPr>
              <a:t>Graduado em Fisioterapia pela UNIP (2007).</a:t>
            </a:r>
          </a:p>
          <a:p>
            <a:pPr marL="274320" indent="-274320">
              <a:lnSpc>
                <a:spcPct val="120000"/>
              </a:lnSpc>
              <a:spcBef>
                <a:spcPts val="1100"/>
              </a:spcBef>
            </a:pPr>
            <a:r>
              <a:rPr sz="1500" b="1" i="0">
                <a:solidFill>
                  <a:srgbClr val="C00000"/>
                </a:solidFill>
                <a:latin typeface="Trebuchet MS"/>
              </a:rPr>
              <a:t>•  </a:t>
            </a:r>
            <a:r>
              <a:rPr sz="1500" b="0" i="0">
                <a:solidFill>
                  <a:srgbClr val="696969"/>
                </a:solidFill>
                <a:latin typeface="Trebuchet MS"/>
              </a:rPr>
              <a:t>Pós-graduado em Fisiologia e Biomecânica pelo HCFMUSP (2009).</a:t>
            </a:r>
          </a:p>
          <a:p>
            <a:pPr marL="274320" indent="-274320">
              <a:lnSpc>
                <a:spcPct val="120000"/>
              </a:lnSpc>
              <a:spcBef>
                <a:spcPts val="1100"/>
              </a:spcBef>
            </a:pPr>
            <a:r>
              <a:rPr sz="1500" b="1" i="0">
                <a:solidFill>
                  <a:srgbClr val="C00000"/>
                </a:solidFill>
                <a:latin typeface="Trebuchet MS"/>
              </a:rPr>
              <a:t>•  </a:t>
            </a:r>
            <a:r>
              <a:rPr sz="1500" b="0" i="0">
                <a:solidFill>
                  <a:srgbClr val="696969"/>
                </a:solidFill>
                <a:latin typeface="Trebuchet MS"/>
              </a:rPr>
              <a:t>Atuação em Fisioterapia Ortopédica.</a:t>
            </a:r>
          </a:p>
          <a:p>
            <a:pPr marL="274320" indent="-274320">
              <a:lnSpc>
                <a:spcPct val="120000"/>
              </a:lnSpc>
              <a:spcBef>
                <a:spcPts val="1100"/>
              </a:spcBef>
            </a:pPr>
            <a:r>
              <a:rPr sz="1500" b="1" i="0">
                <a:solidFill>
                  <a:srgbClr val="C00000"/>
                </a:solidFill>
                <a:latin typeface="Trebuchet MS"/>
              </a:rPr>
              <a:t>•  </a:t>
            </a:r>
            <a:r>
              <a:rPr sz="1500" b="0" i="0">
                <a:solidFill>
                  <a:srgbClr val="696969"/>
                </a:solidFill>
                <a:latin typeface="Trebuchet MS"/>
              </a:rPr>
              <a:t>Formação completa em Pilates e RPG.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705856"/>
            <a:ext cx="10058400" cy="38404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r>
              <a:rPr sz="1500" b="1" i="1">
                <a:solidFill>
                  <a:srgbClr val="C00000"/>
                </a:solidFill>
                <a:latin typeface="Trebuchet MS"/>
              </a:rPr>
              <a:t>Analgesia / Funcionalidade / Mobilidade / Fortalecimento / Equilíbrio / Reabilitação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Capa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Pg Contato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Última Pg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43eda9f-9bb9-45a9-aa50-915408aed003" xsi:nil="true"/>
    <lcf76f155ced4ddcb4097134ff3c332f xmlns="d9c60b37-c81e-46fe-b25a-cf0348d80883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93037AED327E941BD404CD88CB5317F" ma:contentTypeVersion="16" ma:contentTypeDescription="Crie um novo documento." ma:contentTypeScope="" ma:versionID="d0c32ae857c12d5e11b15acacf071c4e">
  <xsd:schema xmlns:xsd="http://www.w3.org/2001/XMLSchema" xmlns:xs="http://www.w3.org/2001/XMLSchema" xmlns:p="http://schemas.microsoft.com/office/2006/metadata/properties" xmlns:ns2="d9c60b37-c81e-46fe-b25a-cf0348d80883" xmlns:ns3="c43eda9f-9bb9-45a9-aa50-915408aed003" targetNamespace="http://schemas.microsoft.com/office/2006/metadata/properties" ma:root="true" ma:fieldsID="f459bced121f4bfcb04034421542beb6" ns2:_="" ns3:_="">
    <xsd:import namespace="d9c60b37-c81e-46fe-b25a-cf0348d80883"/>
    <xsd:import namespace="c43eda9f-9bb9-45a9-aa50-915408aed00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3:TaxCatchAll" minOccurs="0"/>
                <xsd:element ref="ns2:lcf76f155ced4ddcb4097134ff3c332f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c60b37-c81e-46fe-b25a-cf0348d8088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description="" ma:indexed="true" ma:internalName="MediaServiceLocation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00b7ec0b-7a38-4a63-aa92-4f051ec52d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3eda9f-9bb9-45a9-aa50-915408aed00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6b1a383-7984-4151-8425-30e055b990de}" ma:internalName="TaxCatchAll" ma:showField="CatchAllData" ma:web="c43eda9f-9bb9-45a9-aa50-915408aed00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F9DD187-12F8-4BF7-8A50-373877727884}">
  <ds:schemaRefs>
    <ds:schemaRef ds:uri="http://schemas.microsoft.com/office/2006/metadata/properties"/>
    <ds:schemaRef ds:uri="http://schemas.microsoft.com/office/infopath/2007/PartnerControls"/>
    <ds:schemaRef ds:uri="c43eda9f-9bb9-45a9-aa50-915408aed003"/>
    <ds:schemaRef ds:uri="d9c60b37-c81e-46fe-b25a-cf0348d80883"/>
  </ds:schemaRefs>
</ds:datastoreItem>
</file>

<file path=customXml/itemProps2.xml><?xml version="1.0" encoding="utf-8"?>
<ds:datastoreItem xmlns:ds="http://schemas.openxmlformats.org/officeDocument/2006/customXml" ds:itemID="{BB13BAC8-B0E0-49BA-AD1F-93CFBDE69C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c60b37-c81e-46fe-b25a-cf0348d80883"/>
    <ds:schemaRef ds:uri="c43eda9f-9bb9-45a9-aa50-915408aed00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3B6D8A3-527F-4B3B-B949-C88E2BB012F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460</TotalTime>
  <Words>320</Words>
  <Application>Microsoft Macintosh PowerPoint</Application>
  <PresentationFormat>Widescreen</PresentationFormat>
  <Paragraphs>45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5</vt:i4>
      </vt:variant>
      <vt:variant>
        <vt:lpstr>Títulos de slides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Courier New</vt:lpstr>
      <vt:lpstr>Trebuchet MS</vt:lpstr>
      <vt:lpstr>1_Capas</vt:lpstr>
      <vt:lpstr>3_Personalizar design</vt:lpstr>
      <vt:lpstr>4_Pg Contatos</vt:lpstr>
      <vt:lpstr>5_Última Pg</vt:lpstr>
      <vt:lpstr>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Patricia Vianna Aleixo Quio</dc:creator>
  <cp:lastModifiedBy>Mario Faria | 200DEV</cp:lastModifiedBy>
  <cp:revision>37</cp:revision>
  <dcterms:created xsi:type="dcterms:W3CDTF">2021-07-21T21:15:37Z</dcterms:created>
  <dcterms:modified xsi:type="dcterms:W3CDTF">2026-07-26T23:48:24Z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0x010100A93037AED327E941BD404CD88CB5317F</vt:lpwstr>
  </property>
</Properties>
</file>